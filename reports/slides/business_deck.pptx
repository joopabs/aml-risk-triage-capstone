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reports/sections/01_problem.md.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spec non-use list; model card.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reports/review_queue_period_0.md (example queue), reports/explainability.md (reasons).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reports/capacity_analysis.md.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reports/explainability.md, reports/model_comparison.md.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reports/capacity_analysis.md, reports/bias_fairness_analysis.md.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reports/bias_fairness_analysis.md, data/processed/test_access.json.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reports/bias_fairness_analysis.md (mitigations, audit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3A5F"/>
                </a:solidFill>
              </a:defRPr>
            </a:pPr>
            <a:r>
              <a:t>Explainable AML Transaction-Risk Triage for SME and Corporate Banking</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2000"/>
            </a:pPr>
            <a:r>
              <a:t>An educational prototype that helps investigators decide what to review first.</a:t>
            </a:r>
          </a:p>
          <a:p>
            <a:pPr>
              <a:spcAft>
                <a:spcPts val="600"/>
              </a:spcAft>
              <a:defRPr sz="2000"/>
            </a:pPr>
            <a:r>
              <a:t>Julius Pabular · Pillar 5 Capstone · released model 20260904T225142-0dc8f82-hgb</a:t>
            </a:r>
          </a:p>
        </p:txBody>
      </p:sp>
      <p:sp>
        <p:nvSpPr>
          <p:cNvPr id="4" name="TextBox 3"/>
          <p:cNvSpPr txBox="1"/>
          <p:nvPr/>
        </p:nvSpPr>
        <p:spPr>
          <a:xfrm>
            <a:off x="640080" y="5806440"/>
            <a:ext cx="10881360" cy="822960"/>
          </a:xfrm>
          <a:prstGeom prst="rect">
            <a:avLst/>
          </a:prstGeom>
          <a:noFill/>
        </p:spPr>
        <p:txBody>
          <a:bodyPr wrap="square">
            <a:spAutoFit/>
          </a:bodyPr>
          <a:lstStyle/>
          <a:p>
            <a:pPr>
              <a:defRPr sz="1100" i="1">
                <a:solidFill>
                  <a:srgbClr val="DD5143"/>
                </a:solidFill>
              </a:defRPr>
            </a:pPr>
            <a:r>
              <a:t>Educational decision-support prototype trained on synthetic PaySim data. Outputs are risk scores and review priorities that help human investigators decide what to review first. This system makes no fraud or AML determination and performs no automatic blocking, account closure, customer risk rating, or regulatory reporting. Results on synthetic data do not establish real-world detection effectiveness, fairness, or regulatory suitability.</a:t>
            </a:r>
          </a:p>
        </p:txBody>
      </p:sp>
      <p:sp>
        <p:nvSpPr>
          <p:cNvPr id="5" name="TextBox 4"/>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The problem we chose</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1600"/>
            </a:pPr>
            <a:r>
              <a:t>• Investigators can review only a fixed number of transactions a day; most alerts are never looked at in depth.</a:t>
            </a:r>
          </a:p>
          <a:p>
            <a:pPr>
              <a:spcAft>
                <a:spcPts val="600"/>
              </a:spcAft>
              <a:defRPr sz="1600"/>
            </a:pPr>
            <a:r>
              <a:t>• The question the prototype answers: of today's transactions, which 200 deserve a human look first?</a:t>
            </a:r>
          </a:p>
          <a:p>
            <a:pPr>
              <a:spcAft>
                <a:spcPts val="600"/>
              </a:spcAft>
              <a:defRPr sz="1600"/>
            </a:pPr>
            <a:r>
              <a:t>• Built and tested on synthetic PaySim data because labelled real SME/corporate data is not public.</a:t>
            </a:r>
          </a:p>
        </p:txBody>
      </p:sp>
      <p:sp>
        <p:nvSpPr>
          <p:cNvPr id="4" name="TextBox 3"/>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What the tool does, and does not do</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1600" b="1"/>
            </a:pPr>
            <a:r>
              <a:t>Does: ranks each day's transactions, returns a risk score, a review priority (high / medium / low), the three factors behind each score, the model version, and a disclaimer.</a:t>
            </a:r>
          </a:p>
          <a:p>
            <a:pPr>
              <a:spcAft>
                <a:spcPts val="600"/>
              </a:spcAft>
              <a:defRPr sz="1600" b="1"/>
            </a:pPr>
            <a:r>
              <a:t>Does not: block or hold transactions, close or freeze accounts, rate customers, file suspicious-activity or regulatory reports, or decide that anything is fraud. A person reviews, decides, and can override.</a:t>
            </a:r>
          </a:p>
        </p:txBody>
      </p:sp>
      <p:sp>
        <p:nvSpPr>
          <p:cNvPr id="4" name="TextBox 3"/>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How investigators would use it (human-in-the-loop)</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1600"/>
            </a:pPr>
            <a:r>
              <a:t>• Each morning the queue lists the top 200 transactions of the previous day with plain-language reasons.</a:t>
            </a:r>
          </a:p>
          <a:p>
            <a:pPr>
              <a:spcAft>
                <a:spcPts val="600"/>
              </a:spcAft>
              <a:defRPr sz="1600"/>
            </a:pPr>
            <a:r>
              <a:t>• The investigator works the queue, records a decision, and may override or pull in any other transaction.</a:t>
            </a:r>
          </a:p>
          <a:p>
            <a:pPr>
              <a:spcAft>
                <a:spcPts val="600"/>
              </a:spcAft>
              <a:defRPr sz="1600"/>
            </a:pPr>
            <a:r>
              <a:t>• Decisions and overrides feed monitoring and, in any real deployment, the fairness audit.</a:t>
            </a:r>
          </a:p>
        </p:txBody>
      </p:sp>
      <p:sp>
        <p:nvSpPr>
          <p:cNvPr id="4" name="TextBox 3"/>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Illustrative result: what 200 reviews a day would surface</a:t>
            </a:r>
          </a:p>
        </p:txBody>
      </p:sp>
      <p:sp>
        <p:nvSpPr>
          <p:cNvPr id="3" name="TextBox 2"/>
          <p:cNvSpPr txBox="1"/>
          <p:nvPr/>
        </p:nvSpPr>
        <p:spPr>
          <a:xfrm>
            <a:off x="640080" y="1371600"/>
            <a:ext cx="10881360" cy="2377440"/>
          </a:xfrm>
          <a:prstGeom prst="rect">
            <a:avLst/>
          </a:prstGeom>
          <a:noFill/>
        </p:spPr>
        <p:txBody>
          <a:bodyPr wrap="square">
            <a:spAutoFit/>
          </a:bodyPr>
          <a:lstStyle/>
          <a:p>
            <a:pPr>
              <a:spcAft>
                <a:spcPts val="600"/>
              </a:spcAft>
              <a:defRPr sz="1600"/>
            </a:pPr>
            <a:r>
              <a:t>Illustrative counts from the held-out test period (76% of each day's positives caught; every one of the 200 reviews landed on a positive). Improvement factor vs the simple rule: 2.4×.</a:t>
            </a:r>
          </a:p>
        </p:txBody>
      </p:sp>
      <p:graphicFrame>
        <p:nvGraphicFramePr>
          <p:cNvPr id="4" name="Table 3"/>
          <p:cNvGraphicFramePr>
            <a:graphicFrameLocks noGrp="1"/>
          </p:cNvGraphicFramePr>
          <p:nvPr/>
        </p:nvGraphicFramePr>
        <p:xfrm>
          <a:off x="640080" y="3840480"/>
          <a:ext cx="10881360" cy="1920240"/>
        </p:xfrm>
        <a:graphic>
          <a:graphicData uri="http://schemas.openxmlformats.org/drawingml/2006/table">
            <a:tbl>
              <a:tblPr firstRow="1" bandRow="1">
                <a:tableStyleId>{5C22544A-7EE6-4342-B048-85BDC9FD1C3A}</a:tableStyleId>
              </a:tblPr>
              <a:tblGrid>
                <a:gridCol w="5440680"/>
                <a:gridCol w="5440680"/>
              </a:tblGrid>
              <a:tr h="384048">
                <a:tc>
                  <a:txBody>
                    <a:bodyPr/>
                    <a:lstStyle/>
                    <a:p>
                      <a:pPr>
                        <a:defRPr sz="1300" b="1"/>
                      </a:pPr>
                      <a:r>
                        <a:t>Way of choosing the 200 reviews</a:t>
                      </a:r>
                    </a:p>
                  </a:txBody>
                  <a:tcPr/>
                </a:tc>
                <a:tc>
                  <a:txBody>
                    <a:bodyPr/>
                    <a:lstStyle/>
                    <a:p>
                      <a:pPr>
                        <a:defRPr sz="1300" b="1"/>
                      </a:pPr>
                      <a:r>
                        <a:t>Illustrative positives surfaced per day</a:t>
                      </a:r>
                    </a:p>
                  </a:txBody>
                  <a:tcPr/>
                </a:tc>
              </a:tr>
              <a:tr h="384048">
                <a:tc>
                  <a:txBody>
                    <a:bodyPr/>
                    <a:lstStyle/>
                    <a:p>
                      <a:pPr>
                        <a:defRPr sz="1300" b="1"/>
                      </a:pPr>
                      <a:r>
                        <a:t>This prototype</a:t>
                      </a:r>
                    </a:p>
                  </a:txBody>
                  <a:tcPr/>
                </a:tc>
                <a:tc>
                  <a:txBody>
                    <a:bodyPr/>
                    <a:lstStyle/>
                    <a:p>
                      <a:pPr>
                        <a:defRPr sz="1300" b="1"/>
                      </a:pPr>
                      <a:r>
                        <a:t>200</a:t>
                      </a:r>
                    </a:p>
                  </a:txBody>
                  <a:tcPr/>
                </a:tc>
              </a:tr>
              <a:tr h="384048">
                <a:tc>
                  <a:txBody>
                    <a:bodyPr/>
                    <a:lstStyle/>
                    <a:p>
                      <a:pPr>
                        <a:defRPr sz="1300" b="0"/>
                      </a:pPr>
                      <a:r>
                        <a:t>Simple rule (flag, then largest amount)</a:t>
                      </a:r>
                    </a:p>
                  </a:txBody>
                  <a:tcPr/>
                </a:tc>
                <a:tc>
                  <a:txBody>
                    <a:bodyPr/>
                    <a:lstStyle/>
                    <a:p>
                      <a:pPr>
                        <a:defRPr sz="1300" b="0"/>
                      </a:pPr>
                      <a:r>
                        <a:t>83</a:t>
                      </a:r>
                    </a:p>
                  </a:txBody>
                  <a:tcPr/>
                </a:tc>
              </a:tr>
              <a:tr h="384048">
                <a:tc>
                  <a:txBody>
                    <a:bodyPr/>
                    <a:lstStyle/>
                    <a:p>
                      <a:pPr>
                        <a:defRPr sz="1300" b="0"/>
                      </a:pPr>
                      <a:r>
                        <a:t>Oldest first</a:t>
                      </a:r>
                    </a:p>
                  </a:txBody>
                  <a:tcPr/>
                </a:tc>
                <a:tc>
                  <a:txBody>
                    <a:bodyPr/>
                    <a:lstStyle/>
                    <a:p>
                      <a:pPr>
                        <a:defRPr sz="1300" b="0"/>
                      </a:pPr>
                      <a:r>
                        <a:t>56</a:t>
                      </a:r>
                    </a:p>
                  </a:txBody>
                  <a:tcPr/>
                </a:tc>
              </a:tr>
              <a:tr h="384048">
                <a:tc>
                  <a:txBody>
                    <a:bodyPr/>
                    <a:lstStyle/>
                    <a:p>
                      <a:pPr>
                        <a:defRPr sz="1300" b="0"/>
                      </a:pPr>
                      <a:r>
                        <a:t>Random</a:t>
                      </a:r>
                    </a:p>
                  </a:txBody>
                  <a:tcPr/>
                </a:tc>
                <a:tc>
                  <a:txBody>
                    <a:bodyPr/>
                    <a:lstStyle/>
                    <a:p>
                      <a:pPr>
                        <a:defRPr sz="1300" b="0"/>
                      </a:pPr>
                      <a:r>
                        <a:t>28</a:t>
                      </a:r>
                    </a:p>
                  </a:txBody>
                  <a:tcPr/>
                </a:tc>
              </a:tr>
            </a:tbl>
          </a:graphicData>
        </a:graphic>
      </p:graphicFrame>
      <p:sp>
        <p:nvSpPr>
          <p:cNvPr id="5" name="TextBox 4"/>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Why the illustrative numbers look too good</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1600"/>
            </a:pPr>
            <a:r>
              <a:t>• The synthetic generator writes simulated fraud with a bookkeeping signature (account emptied, balances reconcile exactly). The model learned that signature, which is why it looks perfect here.</a:t>
            </a:r>
          </a:p>
          <a:p>
            <a:pPr>
              <a:spcAft>
                <a:spcPts val="600"/>
              </a:spcAft>
              <a:defRPr sz="1600"/>
            </a:pPr>
            <a:r>
              <a:t>• On real transactions this signature would not exist. The method transfers; the numbers do not.</a:t>
            </a:r>
          </a:p>
          <a:p>
            <a:pPr>
              <a:spcAft>
                <a:spcPts val="600"/>
              </a:spcAft>
              <a:defRPr sz="1600"/>
            </a:pPr>
            <a:r>
              <a:t>• What does carry over: the ranking-under-capacity design, the honesty checks, and the audit trail.</a:t>
            </a:r>
          </a:p>
        </p:txBody>
      </p:sp>
      <p:sp>
        <p:nvSpPr>
          <p:cNvPr id="4" name="TextBox 3"/>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Capacity, not the model, is the constraint</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1600"/>
            </a:pPr>
            <a:r>
              <a:t>• Illustrative: each test day had 240–280 simulated positives but only 200 review slots, so about 24% of positives wait unreviewed even with a perfect ranking.</a:t>
            </a:r>
          </a:p>
          <a:p>
            <a:pPr>
              <a:spcAft>
                <a:spcPts val="600"/>
              </a:spcAft>
              <a:defRPr sz="1600"/>
            </a:pPr>
            <a:r>
              <a:t>• Illustrative: raising capacity to 300 catches every positive at the cost of roughly 30 reviews a day spent on normal transactions.</a:t>
            </a:r>
          </a:p>
          <a:p>
            <a:pPr>
              <a:spcAft>
                <a:spcPts val="600"/>
              </a:spcAft>
              <a:defRPr sz="1600"/>
            </a:pPr>
            <a:r>
              <a:t>• Small-value and low-balance positives are the ones that wait: an operational effect of ranking under capacity, addressed in the mitigations.</a:t>
            </a:r>
          </a:p>
        </p:txBody>
      </p:sp>
      <p:sp>
        <p:nvSpPr>
          <p:cNvPr id="4" name="TextBox 3"/>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Risks and how they are handled</a:t>
            </a:r>
          </a:p>
        </p:txBody>
      </p:sp>
      <p:graphicFrame>
        <p:nvGraphicFramePr>
          <p:cNvPr id="3" name="Table 2"/>
          <p:cNvGraphicFramePr>
            <a:graphicFrameLocks noGrp="1"/>
          </p:cNvGraphicFramePr>
          <p:nvPr/>
        </p:nvGraphicFramePr>
        <p:xfrm>
          <a:off x="640080" y="1371600"/>
          <a:ext cx="10881360" cy="2304288"/>
        </p:xfrm>
        <a:graphic>
          <a:graphicData uri="http://schemas.openxmlformats.org/drawingml/2006/table">
            <a:tbl>
              <a:tblPr firstRow="1" bandRow="1">
                <a:tableStyleId>{5C22544A-7EE6-4342-B048-85BDC9FD1C3A}</a:tableStyleId>
              </a:tblPr>
              <a:tblGrid>
                <a:gridCol w="5440680"/>
                <a:gridCol w="5440680"/>
              </a:tblGrid>
              <a:tr h="384048">
                <a:tc>
                  <a:txBody>
                    <a:bodyPr/>
                    <a:lstStyle/>
                    <a:p>
                      <a:pPr>
                        <a:defRPr sz="1300" b="1"/>
                      </a:pPr>
                      <a:r>
                        <a:t>Risk</a:t>
                      </a:r>
                    </a:p>
                  </a:txBody>
                  <a:tcPr/>
                </a:tc>
                <a:tc>
                  <a:txBody>
                    <a:bodyPr/>
                    <a:lstStyle/>
                    <a:p>
                      <a:pPr>
                        <a:defRPr sz="1300" b="1"/>
                      </a:pPr>
                      <a:r>
                        <a:t>Handling</a:t>
                      </a:r>
                    </a:p>
                  </a:txBody>
                  <a:tcPr/>
                </a:tc>
              </a:tr>
              <a:tr h="384048">
                <a:tc>
                  <a:txBody>
                    <a:bodyPr/>
                    <a:lstStyle/>
                    <a:p>
                      <a:pPr>
                        <a:defRPr sz="1300" b="0"/>
                      </a:pPr>
                      <a:r>
                        <a:t>Over-trusting a synthetic result</a:t>
                      </a:r>
                    </a:p>
                  </a:txBody>
                  <a:tcPr/>
                </a:tc>
                <a:tc>
                  <a:txBody>
                    <a:bodyPr/>
                    <a:lstStyle/>
                    <a:p>
                      <a:pPr>
                        <a:defRPr sz="1300" b="0"/>
                      </a:pPr>
                      <a:r>
                        <a:t>Every report states results cannot establish real-world effectiveness, fairness or regulatory suitability</a:t>
                      </a:r>
                    </a:p>
                  </a:txBody>
                  <a:tcPr/>
                </a:tc>
              </a:tr>
              <a:tr h="384048">
                <a:tc>
                  <a:txBody>
                    <a:bodyPr/>
                    <a:lstStyle/>
                    <a:p>
                      <a:pPr>
                        <a:defRPr sz="1300" b="0"/>
                      </a:pPr>
                      <a:r>
                        <a:t>Model relies on data artifacts</a:t>
                      </a:r>
                    </a:p>
                  </a:txBody>
                  <a:tcPr/>
                </a:tc>
                <a:tc>
                  <a:txBody>
                    <a:bodyPr/>
                    <a:lstStyle/>
                    <a:p>
                      <a:pPr>
                        <a:defRPr sz="1300" b="0"/>
                      </a:pPr>
                      <a:r>
                        <a:t>Documented; a variant without post-transaction fields performs equally; permutation checks in the monitoring plan</a:t>
                      </a:r>
                    </a:p>
                  </a:txBody>
                  <a:tcPr/>
                </a:tc>
              </a:tr>
              <a:tr h="384048">
                <a:tc>
                  <a:txBody>
                    <a:bodyPr/>
                    <a:lstStyle/>
                    <a:p>
                      <a:pPr>
                        <a:defRPr sz="1300" b="0"/>
                      </a:pPr>
                      <a:r>
                        <a:t>Fairness cannot be measured on this data</a:t>
                      </a:r>
                    </a:p>
                  </a:txBody>
                  <a:tcPr/>
                </a:tc>
                <a:tc>
                  <a:txBody>
                    <a:bodyPr/>
                    <a:lstStyle/>
                    <a:p>
                      <a:pPr>
                        <a:defRPr sz="1300" b="0"/>
                      </a:pPr>
                      <a:r>
                        <a:t>Stated plainly; only operational error slices are reported; a governance-controlled audit plan is defined for real use</a:t>
                      </a:r>
                    </a:p>
                  </a:txBody>
                  <a:tcPr/>
                </a:tc>
              </a:tr>
              <a:tr h="384048">
                <a:tc>
                  <a:txBody>
                    <a:bodyPr/>
                    <a:lstStyle/>
                    <a:p>
                      <a:pPr>
                        <a:defRPr sz="1300" b="0"/>
                      </a:pPr>
                      <a:r>
                        <a:t>Silent changes to the test result</a:t>
                      </a:r>
                    </a:p>
                  </a:txBody>
                  <a:tcPr/>
                </a:tc>
                <a:tc>
                  <a:txBody>
                    <a:bodyPr/>
                    <a:lstStyle/>
                    <a:p>
                      <a:pPr>
                        <a:defRPr sz="1300" b="0"/>
                      </a:pPr>
                      <a:r>
                        <a:t>The test split was scored once; any re-evaluation is recorded with a reason</a:t>
                      </a:r>
                    </a:p>
                  </a:txBody>
                  <a:tcPr/>
                </a:tc>
              </a:tr>
              <a:tr h="384048">
                <a:tc>
                  <a:txBody>
                    <a:bodyPr/>
                    <a:lstStyle/>
                    <a:p>
                      <a:pPr>
                        <a:defRPr sz="1300" b="0"/>
                      </a:pPr>
                      <a:r>
                        <a:t>Misuse as an automated decision</a:t>
                      </a:r>
                    </a:p>
                  </a:txBody>
                  <a:tcPr/>
                </a:tc>
                <a:tc>
                  <a:txBody>
                    <a:bodyPr/>
                    <a:lstStyle/>
                    <a:p>
                      <a:pPr>
                        <a:defRPr sz="1300" b="0"/>
                      </a:pPr>
                      <a:r>
                        <a:t>No decision outputs exist; disclaimer on every surface; human override by design</a:t>
                      </a:r>
                    </a:p>
                  </a:txBody>
                  <a:tcPr/>
                </a:tc>
              </a:tr>
            </a:tbl>
          </a:graphicData>
        </a:graphic>
      </p:graphicFrame>
      <p:sp>
        <p:nvSpPr>
          <p:cNvPr id="4" name="TextBox 3"/>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What a real deployment would require</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1600"/>
            </a:pPr>
            <a:r>
              <a:t>• Lawfully obtained, consented data with a validated label; a governance-controlled fairness audit (owners, metrics, quarterly cadence) before go-live.</a:t>
            </a:r>
          </a:p>
          <a:p>
            <a:pPr>
              <a:spcAft>
                <a:spcPts val="600"/>
              </a:spcAft>
              <a:defRPr sz="1600"/>
            </a:pPr>
            <a:r>
              <a:t>• Monitoring of drift, prevalence, Recall@K and slice error rates; capacity-aware slot reservation for small-value cases.</a:t>
            </a:r>
          </a:p>
          <a:p>
            <a:pPr>
              <a:spcAft>
                <a:spcPts val="600"/>
              </a:spcAft>
              <a:defRPr sz="1600"/>
            </a:pPr>
            <a:r>
              <a:t>• Model-risk review of feature reliance; a human-in-the-loop workflow with recorded overrides.</a:t>
            </a:r>
          </a:p>
          <a:p>
            <a:pPr>
              <a:spcAft>
                <a:spcPts val="600"/>
              </a:spcAft>
              <a:defRPr sz="1600"/>
            </a:pPr>
            <a:r>
              <a:t>• Strategy: treat this as a triage design and governance template, not a model to ship.</a:t>
            </a:r>
          </a:p>
        </p:txBody>
      </p:sp>
      <p:sp>
        <p:nvSpPr>
          <p:cNvPr id="4" name="TextBox 3"/>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2800" b="1">
                <a:solidFill>
                  <a:srgbClr val="1F3A5F"/>
                </a:solidFill>
              </a:defRPr>
            </a:pPr>
            <a:r>
              <a:t>Next steps and the ask</a:t>
            </a:r>
          </a:p>
        </p:txBody>
      </p:sp>
      <p:sp>
        <p:nvSpPr>
          <p:cNvPr id="3" name="TextBox 2"/>
          <p:cNvSpPr txBox="1"/>
          <p:nvPr/>
        </p:nvSpPr>
        <p:spPr>
          <a:xfrm>
            <a:off x="640080" y="1371600"/>
            <a:ext cx="10881360" cy="4206240"/>
          </a:xfrm>
          <a:prstGeom prst="rect">
            <a:avLst/>
          </a:prstGeom>
          <a:noFill/>
        </p:spPr>
        <p:txBody>
          <a:bodyPr wrap="square">
            <a:spAutoFit/>
          </a:bodyPr>
          <a:lstStyle/>
          <a:p>
            <a:pPr>
              <a:spcAft>
                <a:spcPts val="600"/>
              </a:spcAft>
              <a:defRPr sz="1600"/>
            </a:pPr>
            <a:r>
              <a:t>• Pilot the ranking-under-capacity design on a governed, real dataset with the audit plan in place.</a:t>
            </a:r>
          </a:p>
          <a:p>
            <a:pPr>
              <a:spcAft>
                <a:spcPts val="600"/>
              </a:spcAft>
              <a:defRPr sz="1600"/>
            </a:pPr>
            <a:r>
              <a:t>• Decide the review capacity K and the slot-reservation share with operations.</a:t>
            </a:r>
          </a:p>
          <a:p>
            <a:pPr>
              <a:spcAft>
                <a:spcPts val="600"/>
              </a:spcAft>
              <a:defRPr sz="1600"/>
            </a:pPr>
            <a:r>
              <a:t>• Keep the prototype's controls: single-touch evaluation, disclaimer on every output, override records.</a:t>
            </a:r>
          </a:p>
        </p:txBody>
      </p:sp>
      <p:sp>
        <p:nvSpPr>
          <p:cNvPr id="4" name="TextBox 3"/>
          <p:cNvSpPr txBox="1"/>
          <p:nvPr/>
        </p:nvSpPr>
        <p:spPr>
          <a:xfrm>
            <a:off x="640080" y="5806440"/>
            <a:ext cx="10881360" cy="822960"/>
          </a:xfrm>
          <a:prstGeom prst="rect">
            <a:avLst/>
          </a:prstGeom>
          <a:noFill/>
        </p:spPr>
        <p:txBody>
          <a:bodyPr wrap="square">
            <a:spAutoFit/>
          </a:bodyPr>
          <a:lstStyle/>
          <a:p>
            <a:pPr>
              <a:defRPr sz="1100" i="1">
                <a:solidFill>
                  <a:srgbClr val="DD5143"/>
                </a:solidFill>
              </a:defRPr>
            </a:pPr>
            <a:r>
              <a:t>Educational decision-support prototype trained on synthetic PaySim data. Outputs are risk scores and review priorities that help human investigators decide what to review first. This system makes no fraud or AML determination and performs no automatic blocking, account closure, customer risk rating, or regulatory reporting. Results on synthetic data do not establish real-world detection effectiveness, fairness, or regulatory suitability.</a:t>
            </a:r>
          </a:p>
        </p:txBody>
      </p:sp>
      <p:sp>
        <p:nvSpPr>
          <p:cNvPr id="5" name="TextBox 4"/>
          <p:cNvSpPr txBox="1"/>
          <p:nvPr/>
        </p:nvSpPr>
        <p:spPr>
          <a:xfrm>
            <a:off x="548640" y="6446520"/>
            <a:ext cx="11064240" cy="320040"/>
          </a:xfrm>
          <a:prstGeom prst="rect">
            <a:avLst/>
          </a:prstGeom>
          <a:noFill/>
        </p:spPr>
        <p:txBody>
          <a:bodyPr wrap="none">
            <a:spAutoFit/>
          </a:bodyPr>
          <a:lstStyle/>
          <a:p>
            <a:pPr>
              <a:defRPr sz="900">
                <a:solidFill>
                  <a:srgbClr val="555555"/>
                </a:solidFill>
              </a:defRPr>
            </a:pPr>
            <a:r>
              <a:t>Synthetic PaySim data · educational decision-support prototype · no AML determination · slide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